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DA3FF"/>
                </a:solidFill>
              </a:rPr>
              <a:t>PERFORMANCE ANALYTICS  .  QLIK 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2316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Performance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BBDD"/>
                </a:solidFill>
              </a:rPr>
              <a:t>Painel de Monitoramento da Equipe de Vendas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A3FF"/>
                </a:solidFill>
              </a:rPr>
              <a:t>ERP Protheus  .  SQL Server  .  Qlik Sense  .  20 Indicadores  .  Refresh Diario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7799"/>
                </a:solidFill>
              </a:rPr>
              <a:t>Entrega: 31 de marco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Objetivo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O desafio e a solucao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5778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PROBLEMA IDENTIFICADO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8308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A equipe consolidava performance em Excel toda segunda-feira, com dados desatualizados, sujeitos a erro e sem visao por hierarquia.
Sem visibilidade diaria -&gt; decisoes tardias -&gt; perda de oportunidades.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5778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577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SOLUCAO ENTREGUE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Dashboard em Qlik Sense com dados do ERP Protheus, atualizado diariamente as 6h, com Section Access por perfil (consultor, gerente, diretor) e 20 indicadores validados.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29000"/>
            <a:ext cx="1164031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DA3FF"/>
                </a:solidFill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005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BBCC"/>
                </a:solidFill>
              </a:rPr>
              <a:t>Indicadores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2382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DA3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2382" y="4005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BBCC"/>
                </a:solidFill>
              </a:rPr>
              <a:t>Sheets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0444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DA3FF"/>
                </a:solidFill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0444" y="4005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BBCC"/>
                </a:solidFill>
              </a:rPr>
              <a:t>Meses Historico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8507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DA3FF"/>
                </a:solidFill>
              </a:rPr>
              <a:t>06h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8507" y="4005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BBCC"/>
                </a:solidFill>
              </a:rPr>
              <a:t>Refresh Diario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6569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DA3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6569" y="4005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BBCC"/>
                </a:solidFill>
              </a:rPr>
              <a:t>Perfis de Acesso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6344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365760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754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PUBLICO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029200"/>
            <a:ext cx="33832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Diretores Comerciais, Gerentes Regionais e Consultores de Vendas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466344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4663440"/>
            <a:ext cx="365760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4754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FONTE DE DADOS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5029200"/>
            <a:ext cx="33832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ERP Protheus (SQL Server) + Planilha de Metas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466344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7031" y="4663440"/>
            <a:ext cx="365760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4754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PLATAFORMA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5029200"/>
            <a:ext cx="33832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Qlik Sense Cloud - acesso via browser, sem instalacao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Solucao Entregue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4 sheets com fluxo estrategico ao micro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66928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544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Sheet 01 - Visao Executiva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Para: Diretor e Gerente Comercial
Responde: Estamos atingindo a meta?
Faturamento . Meta . % Atingimento . Margem . MoM . YoY . Qtd Pedidos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651760"/>
            <a:ext cx="539496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B8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A99"/>
                </a:solidFill>
              </a:rPr>
              <a:t>[ Inserir screenshot aqui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66928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Sheet 02 - Performance Comercial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Para: Gerente Comercial e Regional
Responde: Quem e onde performam melhor?
Ranking Consultores . Fat. por Regiao . % Atingimento . Ticket Medio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651760"/>
            <a:ext cx="539496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B8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A99"/>
                </a:solidFill>
              </a:rPr>
              <a:t>[ Inserir screenshot aqui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566928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1605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Sheet 03 - Analise de Produtos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43484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Para: Analista de BI e Gerente de Produto
Responde: O que e por qual canal vendemos?
Fat. por Produto . Canal . % Desconto . Margem de Contribuicao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79" y="5257800"/>
            <a:ext cx="539496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B8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532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A99"/>
                </a:solidFill>
              </a:rPr>
              <a:t>[ Inserir screenshot aqui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6908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69080"/>
            <a:ext cx="566928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1605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Sheet 04 - Financeiro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43484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Para: Financeiro e Diretor
Responde: A saude financeira esta ok?
Inadimplencia . Prazo Medio . Clientes Ativos . Novos . Inativos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5257800"/>
            <a:ext cx="539496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B8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532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A99"/>
                </a:solidFill>
              </a:rPr>
              <a:t>[ Inserir screenshot aqui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Indicadores Entregues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20 KPIs e metricas de performance validados com o negocio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40312" cy="3017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4447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Indicador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4447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Regra de Calculo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1444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444752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14447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1907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74650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174650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Faturamento Realizado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74650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SUM(Valor_Venda)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174650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174650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Por consultor/mes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174650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01,02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0531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997963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997963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Meta de Faturamento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1997963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SUM(Valor_Meta)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1997963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1997963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Inicio do 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1997963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221991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249423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2249423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 Atingimento de 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2249423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Faturamento / Meta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2249423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2249423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2249423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01,02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7345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088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250088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Ticket Medio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250088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SUM(Venda)/COUNT(Pedidos)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250088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250088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250088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72491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275234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275234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Taxa de Conversao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9272" y="275234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COUNT(Fechados)/COUNT(Total)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275234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2" y="275234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1512" y="275234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97637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003803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" y="3003803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Inadimplencia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9272" y="3003803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SUM(Atraso)/SUM(Total)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1192" y="3003803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74152" y="3003803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&lt; 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11512" y="3003803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22783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325526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" y="325526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Qtd de Pedidos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19272" y="325526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COUNT(ID_Pedido)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51192" y="325526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un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4152" y="325526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Por regiao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11512" y="325526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47929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350672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350672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Fat. por Regiao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9272" y="350672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SUM(Venda) GROUP BY Regiao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51192" y="350672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74152" y="350672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Por consultor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11512" y="350672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73075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375818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" y="375818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Fat. por Consultor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19272" y="375818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SUM(Venda) GROUP BY Consultor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51192" y="375818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74152" y="375818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11512" y="375818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98221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400964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" y="400964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Fat. por Produto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19272" y="400964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SUM(Venda) GROUP BY Produto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51192" y="400964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4152" y="400964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11512" y="400964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23367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426110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7512" y="426110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Fat. por Canal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19272" y="426110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SUM(Venda) GROUP BY Canal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51192" y="426110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74152" y="426110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Positivo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11512" y="426110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48513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" y="451256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512" y="451256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Crescimento MoM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19272" y="451256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(Mes Atual - Ant.) / Ant.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51192" y="451256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74152" y="451256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Positivo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11512" y="451256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73659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476402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7512" y="476402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Crescimento YoY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19272" y="476402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(Ano Atual - Ant.) / Ant.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51192" y="476402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74152" y="476402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11512" y="476402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498805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0040" y="501548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7512" y="501548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Clientes Ativos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19272" y="501548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COUNT(DISTINCT c/ venda)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51192" y="501548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un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74152" y="501548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11512" y="501548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523951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20040" y="526694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7512" y="526694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Novos Clientes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526694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COUNT(1a compra no mes)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51192" y="526694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un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74152" y="526694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11512" y="526694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549097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0040" y="551840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7512" y="551840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Clientes Inativos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9272" y="551840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COUNT(ultima compra &gt; 90d)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51192" y="551840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un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74152" y="551840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11512" y="551840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574243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20040" y="576986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7512" y="576986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Prazo Medio Pagamento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19272" y="576986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AVG(Pagamento - Vencimento)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251192" y="576986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dias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74152" y="576986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&lt; 30d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811512" y="576986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599389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20040" y="602132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7512" y="602132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Valor Medio por Pedido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9272" y="602132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SUM(Venda)/COUNT(Pedidos)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251192" y="602132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R$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074152" y="602132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 definir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811512" y="602132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6245352"/>
            <a:ext cx="11640312" cy="251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20040" y="627278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67512" y="627278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 Desconto Medio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19272" y="627278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SUM(Desconto)/SUM(Bruto)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251192" y="627278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74152" y="627278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&lt; 10%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811512" y="627278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03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4320" y="6496812"/>
            <a:ext cx="11640312" cy="2514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20040" y="6524244"/>
            <a:ext cx="2560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20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67512" y="6524244"/>
            <a:ext cx="25603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Margem de Contribuicao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19272" y="6524244"/>
            <a:ext cx="3840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SUM(Venda-Custo)/SUM(Venda)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251192" y="6524244"/>
            <a:ext cx="7315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74152" y="6524244"/>
            <a:ext cx="1645919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&gt; 30%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811512" y="6524244"/>
            <a:ext cx="6400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01,03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Arquitetura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Fluxo da extracao ao painel - padrao QVD em duas camadas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973836" y="150876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" y="1664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</a:rPr>
              <a:t>ERP Protheus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99"/>
                </a:solidFill>
              </a:rPr>
              <a:t>SQL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0924" y="1901952"/>
            <a:ext cx="256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7DD6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6956" y="150876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6956" y="1664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</a:rPr>
              <a:t>Extracao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6956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99"/>
                </a:solidFill>
              </a:rPr>
              <a:t>7 scripts .inc QVDs brutos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4044" y="1901952"/>
            <a:ext cx="256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7DD6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0076" y="150876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0076" y="1664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</a:rPr>
              <a:t>Transformacao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076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99"/>
                </a:solidFill>
              </a:rPr>
              <a:t>3 scripts .inc QVDs enriquecidos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7164" y="1901952"/>
            <a:ext cx="256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7DD6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3196" y="150876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3196" y="1664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</a:rPr>
              <a:t>App Qlik Sense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3196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99"/>
                </a:solidFill>
              </a:rPr>
              <a:t>4 sheets 20 indicadores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284" y="1901952"/>
            <a:ext cx="256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7DD6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86316" y="150876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6316" y="1664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</a:rPr>
              <a:t>Usuario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6316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99"/>
                </a:solidFill>
              </a:rPr>
              <a:t>Browser Section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01752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017520"/>
            <a:ext cx="365760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MODELO ESTRELA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3383279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4 dimensoes: Tempo, Cliente, Consultor, Produto
3 fatos: Vendas, Financeiro, Metas
ApplyMap - sem chaves sinteticas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01752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3017520"/>
            <a:ext cx="365760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3383279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QVDs em duas camadas
Historico: 24 meses
Indices no SQL Server para todas as FKs
ApplyMap evita JOINs lentos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301752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7031" y="3017520"/>
            <a:ext cx="365760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CONTROLE DE ACESSO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3383279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Section Access por perfil:
- Consultor: proprios dados
- Gerente Regional: sua regiao
- Diretor: visibilidade total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84632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846320"/>
            <a:ext cx="557784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493775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QVDs EXTRACAO (brutos)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5212080"/>
            <a:ext cx="5303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dim_cliente . dim_consultor . dim_produto . dim_tempo
fato_vendas . fato_financeiro . fato_metas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84632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846320"/>
            <a:ext cx="5577840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93775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A99"/>
                </a:solidFill>
              </a:rPr>
              <a:t>QVDs TRANSFORMACAO (enriquecidos)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212080"/>
            <a:ext cx="5303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B55"/>
                </a:solidFill>
              </a:rPr>
              <a:t>fato_vendas_final . resumo_faturamento_mensal
fato_financeiro_enriched . dim_cliente_enriched
fato_metas_enriched . resumo_metas_gerencia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Status da Validacao Tecnica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Checklist atualizado em 31/03/2026 - Nota: 5,0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4031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4356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Fase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143560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14356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1435608"/>
            <a:ext cx="4553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Observacao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9164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2821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72821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Extracao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4248" y="172821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Conexao com a fonte validada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46504"/>
            <a:ext cx="1024128" cy="1874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74650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Parcial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72821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conexao.inc criado - validar credenciais reais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88820"/>
            <a:ext cx="11640312" cy="2971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02539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202539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Extracao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202539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Volume de registros conferido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043684"/>
            <a:ext cx="1024128" cy="1874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04368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02539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Executar apos popular banco SQL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28600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2257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232257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Extracao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4248" y="232257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Campos nulos tratados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340864"/>
            <a:ext cx="1024128" cy="1874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234086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232257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ISNULL aplicado em todos os 7 scripts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583180"/>
            <a:ext cx="11640312" cy="2971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61975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261975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Transformacao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4248" y="261975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Regras de negocio aplicadas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2638044"/>
            <a:ext cx="1024128" cy="1874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263804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261975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20 indicadores cobertos nos 3 scripts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88036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91693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291693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Transformacao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84248" y="291693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Joins e relacionamentos validados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2935224"/>
            <a:ext cx="1024128" cy="1874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293522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4888" y="291693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ApplyMap - sem chaves sinteticas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177540"/>
            <a:ext cx="11640312" cy="2971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321411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321411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Transformacao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84248" y="321411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Duplicatas verificadas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232404"/>
            <a:ext cx="1024128" cy="1874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323240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321411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GROUP BY aplicado nas tabelas de resumo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47472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51129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" y="351129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Transformacao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4248" y="351129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Tipos de dados corretos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529584"/>
            <a:ext cx="1024128" cy="1874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0" y="352958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04888" y="351129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DATE, DECIMAL, VARCHAR conforme DDL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771900"/>
            <a:ext cx="11640312" cy="2971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380847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380847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App Qlik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84248" y="380847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Modelo sem chaves sinteticas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3826763"/>
            <a:ext cx="1024128" cy="1874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0" y="3826763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04888" y="380847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ApplyMap - modelo estrela sem loops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06908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410565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10565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App Qlik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84248" y="410565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Indicadores conferidos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4123944"/>
            <a:ext cx="1024128" cy="1874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0" y="412394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Parcial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04888" y="410565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20 indicadores gerados - validar com usuario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366260"/>
            <a:ext cx="11640312" cy="2971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440283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" y="440283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App Qlik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84248" y="440283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Filtros funcionando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421124"/>
            <a:ext cx="1024128" cy="1874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0" y="442112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4888" y="440283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Validar apos publicar no Qlik Sense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466344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470001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8" y="470001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App Qlik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84248" y="470001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Graficos exibindo dados corretos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43600" y="4718303"/>
            <a:ext cx="1024128" cy="1874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0" y="4718303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04888" y="470001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Validar apos publicar no Qlik Sense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960620"/>
            <a:ext cx="11640312" cy="2971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499719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2648" y="499719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App Qlik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84248" y="499719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Performance de carregamento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0" y="5015484"/>
            <a:ext cx="1024128" cy="1874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43600" y="501548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04888" y="499719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Testar apos carga real com SQL Server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525780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0040" y="529437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2648" y="529437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Entrega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84248" y="529437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Validacao com usuario concluida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0" y="5312664"/>
            <a:ext cx="1024128" cy="1874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0" y="531266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04888" y="529437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Agendar sessao UAT com Gerente Comercial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5554980"/>
            <a:ext cx="11640312" cy="2971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559155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559155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Entrega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84248" y="559155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Documentacao atualizada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0" y="5609844"/>
            <a:ext cx="1024128" cy="1874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943600" y="560984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Parcial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104888" y="559155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Docs tecnicas geradas - falta doc final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5852160"/>
            <a:ext cx="11640312" cy="297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0040" y="5888736"/>
            <a:ext cx="201168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2648" y="5888736"/>
            <a:ext cx="128016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Entrega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84248" y="5888736"/>
            <a:ext cx="38404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Acesso de usuarios configurado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43600" y="5907024"/>
            <a:ext cx="1024128" cy="1874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43600" y="5907024"/>
            <a:ext cx="1024128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04888" y="5888736"/>
            <a:ext cx="4553712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2B55"/>
                </a:solidFill>
              </a:rPr>
              <a:t>Section Access mapeado - configurar Qlik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Roadmap para go-live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36192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48132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Validar conexao com SQL Server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719072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Criar Data Connection Protheus_SQLServer e testar SELECT em cada tabela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563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Analista de BI + DBA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031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048256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Executar reload 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286000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Rodar main_load.inc -&gt; main_transform.inc e verificar QVDs gerados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130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Analista de BI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78608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70048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2615184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Construir as 4 sheets no Qlik 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2852928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Usar App/storytelling.md como especificacao de cada objeto visual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Analista de 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45536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236976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36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182112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Sessao UAT com Gerente Comercial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34198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Validar 20 indicadores com dados reais (usar roteiro_validacao_usuario.md)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264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Analista de BI + Gerente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12464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803904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039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3749040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Corrigir divergencias do UAT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3986784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Ajustar scripts e formulas conforme feedback do negocio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831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Analista de BI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370831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37083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31596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Configurar Section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4553712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Criar grupos e mapear usuarios no Qlik Cloud Management Console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3982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Analista de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846320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4937759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937759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4882896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Agendar Reload Task diaria as 6h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" y="5120640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Configurar no Qlik Cloud, ativar notificacao de falha por e-mail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Analista de BI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413248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5504688"/>
            <a:ext cx="329184" cy="32918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55046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5449824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2B55"/>
                </a:solidFill>
              </a:rPr>
              <a:t>Go-live e comunicacao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" y="5687568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A99"/>
                </a:solidFill>
              </a:rPr>
              <a:t>Comunicar equipe, treinar usuarios e documentar ata de validacao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99"/>
                </a:solidFill>
              </a:rPr>
              <a:t>Gerente 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7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DD"/>
                </a:solidFill>
              </a:rPr>
              <a:t>Performance Comercial  .  Qlik Sense  .  Entrega 2026-03-31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DA3FF"/>
                </a:solidFill>
              </a:rPr>
              <a:t>Proximo passo: Sessao de validacao com o Gerente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